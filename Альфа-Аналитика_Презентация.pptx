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[Abstract gradient background]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Montserrat"/>
              </a:defRPr>
            </a:pPr>
            <a:r>
              <a:t>Альфа-Аналитика: Монетизация данных и DS-экспертизы для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Open Sans"/>
              </a:defRPr>
            </a:pPr>
            <a:r>
              <a:t>Стратегическая дорожная карта создания продукта с доходом 1+ млрд руб./год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5486400"/>
            <a:ext cx="914400" cy="4572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[Alfa-Bank Logo]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Open Sans"/>
              </a:defRPr>
            </a:pPr>
            <a:r>
              <a:t>Докладчик: [Имя], [Должность] | [Дата]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ontserrat"/>
              </a:defRPr>
            </a:pPr>
            <a:r>
              <a:t>ЗАДАЧА: Создание новой линии дохода на основе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0" cy="1371600"/>
          </a:xfrm>
          <a:prstGeom prst="rect">
            <a:avLst/>
          </a:prstGeom>
          <a:solidFill>
            <a:srgbClr val="CC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[Icon: Data in safe]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1371600"/>
            <a:ext cx="1371600" cy="1371600"/>
          </a:xfrm>
          <a:prstGeom prst="rect">
            <a:avLst/>
          </a:prstGeom>
          <a:solidFill>
            <a:srgbClr val="CC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[Icon: Money with wings]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1371600" cy="1371600"/>
          </a:xfrm>
          <a:prstGeom prst="rect">
            <a:avLst/>
          </a:prstGeom>
          <a:solidFill>
            <a:srgbClr val="CC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[Icon: Competitors ahead]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Roboto Mono"/>
              </a:defRPr>
            </a:pPr>
            <a:r>
              <a:t>💰 Доход: 1+ млрд руб/год к 3-му году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200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Roboto Mono"/>
              </a:defRPr>
            </a:pPr>
            <a:r>
              <a:t>⏱️ Срок окупаемости: &lt; 1 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200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Roboto Mono"/>
              </a:defRPr>
            </a:pPr>
            <a:r>
              <a:t>🚀 Запуск: до 2027 года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latin typeface="Roboto Mono"/>
              </a:defRPr>
            </a:pPr>
            <a:r>
              <a:t>💸 CapEx: &lt; 400 млн руб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Open Sans"/>
              </a:defRPr>
            </a:pPr>
            <a:r>
              <a:t>Как создать продукт, который монетизирует существующие данные и DS-экспертизу с минимальными вложениями?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ontserrat"/>
              </a:defRPr>
            </a:pPr>
            <a:r>
              <a:t>РЫНОЧНЫЙ ПОТЕНЦИАЛ И КОНКУРЕНТНЫЙ ЛАНДШАФТ</a:t>
            </a:r>
          </a:p>
        </p:txBody>
      </p:sp>
      <p:pic>
        <p:nvPicPr>
          <p:cNvPr id="4" name="Picture 3" descr="market_analysi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804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5029200"/>
            <a:ext cx="1371600" cy="4572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[Sber Logo]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029200"/>
            <a:ext cx="1371600" cy="4572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[Tinkoff Logo]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0292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Open Sans"/>
              </a:defRPr>
            </a:pPr>
            <a:r>
              <a:t>Ритейл и FMCG — оптимальный сегмент для входа: высокая готовность платить, соответствие данным, умеренная конкуренция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ontserrat"/>
              </a:defRPr>
            </a:pPr>
            <a:r>
              <a:t>НАШ ЦЕЛЕВОЙ КЛИЕНТ: РИТЕЙЛЕР С 5-100 ТОЧКАМИ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74320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[Infographic of a person]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Open Sans"/>
              </a:defRPr>
            </a:pPr>
            <a:r>
              <a:t>📊 Выручка: 100 млн - 10 млрд руб/год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Open Sans"/>
              </a:defRPr>
            </a:pPr>
            <a:r>
              <a:t>🌍 Точки продаж: 5-100 в регионах России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2004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Open Sans"/>
              </a:defRPr>
            </a:pPr>
            <a:r>
              <a:t>👤 Покупатель: Директор по развитию/маркетингу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1148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Open Sans"/>
              </a:defRPr>
            </a:pPr>
            <a:r>
              <a:t>🎯 KPI: Рост выручки, оптимизация ассортимента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Open Sans"/>
              </a:defRPr>
            </a:pPr>
            <a:r>
              <a:t>Компании со средней цифровой зрелостью, ищущие конкурентное преимущество через данные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Montserrat"/>
              </a:defRPr>
            </a:pPr>
            <a:r>
              <a:t>MVP: 3 КЛЮЧЕВЫХ СЦЕНАРИЯ ДЛЯ РИТЕЙЛА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Montserrat"/>
              </a:defRPr>
            </a:pPr>
            <a:r>
              <a:t>Геоаналитика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286000" cy="27432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[Map Screenshot]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914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Montserrat"/>
              </a:defRPr>
            </a:pPr>
            <a:r>
              <a:t>Прогноз спроса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554480"/>
            <a:ext cx="2286000" cy="27432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[Graph Screenshot]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Montserrat"/>
              </a:defRPr>
            </a:pPr>
            <a:r>
              <a:t>Сегментация клиентов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2286000" cy="27432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[Pie Chart Screenshot]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Open Sans"/>
              </a:defRPr>
            </a:pPr>
            <a:r>
              <a:t>API-first подход: интеграция в существующие системы клиента без необходимости разработки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ontserrat"/>
              </a:defRPr>
            </a:pPr>
            <a:r>
              <a:t>ДЕМОНСТРАЦИЯ: ГЕОАНАЛИТИКА ДЛЯ ОПТИМИЗАЦИИ ЛОКАЦИЙ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[Full Screenshot of Web Interface]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Open Sans"/>
              </a:defRPr>
            </a:pPr>
            <a:r>
              <a:t>Простой интерфейс для быстрого принятия решений без специальных знаний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ontserrat"/>
              </a:defRPr>
            </a:pPr>
            <a:r>
              <a:t>ТЕХНИЧЕСКАЯ АРХИТЕКТУРА: API-FIRST ПОДХОД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Roboto Mono"/>
              </a:defRPr>
            </a:pPr>
            <a:r>
              <a:t>[Клиенты] ← API Gateway → [ML Models] ← Data Pipeline ← [Анонимизированные данные]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Open Sans"/>
              </a:defRPr>
            </a:pPr>
            <a:r>
              <a:t>Frontend: Streamlit (для демо), интеграция с CRM/ERP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Open Sans"/>
              </a:defRPr>
            </a:pPr>
            <a:r>
              <a:t>API Layer: FastAPI, аутентификация, рейт-лимиты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74320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Open Sans"/>
              </a:defRPr>
            </a:pPr>
            <a:r>
              <a:t>ML Layer: Prophet, RandomForest, кластеризация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65760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Open Sans"/>
              </a:defRPr>
            </a:pPr>
            <a:r>
              <a:t>Data Layer: Snowflake, агрегация и анонимизация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Open Sans"/>
              </a:defRPr>
            </a:pPr>
            <a:r>
              <a:t>Максимальное переиспользование существующей инфраструктуры и DS-решений Альфа-Банка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ontserrat"/>
              </a:defRPr>
            </a:pPr>
            <a:r>
              <a:t>СООТВЕТСТВИЕ 152-ФЗ: АНОНИМИЗАЦИЯ И 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Roboto Mono"/>
              </a:defRPr>
            </a:pPr>
            <a:r>
              <a:t>1. Сбор → 2. Агрегирование + криптографическое обезличивание → 3. Предоставление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Open Sans"/>
              </a:defRPr>
            </a:pPr>
            <a:r>
              <a:t>✅ Данные только агрегированные (минимум 100 человек в выборке)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Open Sans"/>
              </a:defRPr>
            </a:pPr>
            <a:r>
              <a:t>✅ Криптографическая анонимизация (MPC technology)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Open Sans"/>
              </a:defRPr>
            </a:pPr>
            <a:r>
              <a:t>✅ Запрет совместного хранения исходных и обезличенных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Open Sans"/>
              </a:defRPr>
            </a:pPr>
            <a:r>
              <a:t>Строгий compliance с требованиями ЦБ РФ и Приказа Роскомнадзора №140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Montserrat"/>
              </a:defRPr>
            </a:pPr>
            <a:r>
              <a:t>МОДЕЛЬ МОНЕТИЗАЦИИ: ПОДПИСКА +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Montserrat"/>
              </a:defRPr>
            </a:pPr>
            <a:r>
              <a:t>Базовый</a:t>
            </a:r>
          </a:p>
          <a:p>
            <a:pPr>
              <a:defRPr sz="1600">
                <a:latin typeface="Open Sans"/>
              </a:defRPr>
            </a:pPr>
            <a:r>
              <a:t>150,000 руб/мес</a:t>
            </a:r>
            <a:br/>
            <a:r>
              <a:t>(3 модуля, 1000 запросов)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10972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Montserrat"/>
              </a:defRPr>
            </a:pPr>
            <a:r>
              <a:t>Профессиональный</a:t>
            </a:r>
          </a:p>
          <a:p>
            <a:pPr>
              <a:defRPr sz="1600">
                <a:latin typeface="Open Sans"/>
              </a:defRPr>
            </a:pPr>
            <a:r>
              <a:t>400,000 руб/мес</a:t>
            </a:r>
            <a:br/>
            <a:r>
              <a:t>(все модули, безлимит)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Montserrat"/>
              </a:defRPr>
            </a:pPr>
            <a:r>
              <a:t>Enterprise</a:t>
            </a:r>
          </a:p>
          <a:p>
            <a:pPr>
              <a:defRPr sz="1600">
                <a:latin typeface="Open Sans"/>
              </a:defRPr>
            </a:pPr>
            <a:r>
              <a:t>от 1,000,000 руб/мес</a:t>
            </a:r>
            <a:br/>
            <a:r>
              <a:t>(кастомизация, SLA 99.95%)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[Chart: Customer Growth Forecast]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latin typeface="Open Sans"/>
              </a:defRPr>
            </a:pPr>
            <a:r>
              <a:t>Freemium-модель для привлечения SMB и enterprise-сегмент для основного дохода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ontserrat"/>
              </a:defRPr>
            </a:pPr>
            <a:r>
              <a:t>ФИНАНСОВАЯ МОДЕЛЬ: 1+ МЛРД РУБ/ГОД К 3-МУ ГОДУ</a:t>
            </a:r>
          </a:p>
        </p:txBody>
      </p:sp>
      <p:pic>
        <p:nvPicPr>
          <p:cNvPr id="4" name="Picture 3" descr="financial_mod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8174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Open Sans"/>
              </a:defRPr>
            </a:pPr>
            <a:r>
              <a:t>💸 CapEx: 360 млн руб (всего за 3 года)</a:t>
            </a:r>
            <a:br/>
            <a:r>
              <a:t>📈 CAC Payback: &lt; 12 месяцев</a:t>
            </a:r>
            <a:br/>
            <a:r>
              <a:t>🔄 Churn Rate: 10% в год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Open Sans"/>
              </a:defRPr>
            </a:pPr>
            <a:r>
              <a:t>Окупаемость инвестиций менее 1 года, точка безубыточности в начале 2-го года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latin typeface="Montserrat"/>
              </a:defRPr>
            </a:pPr>
            <a:r>
              <a:t>SWOT-АНАЛИЗ: СИЛЬНЫЕ СТОРОНЫ И СТРАТЕГИИ МИНИМИЗАЦИИ РИСКОВ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Montserrat"/>
              </a:defRPr>
            </a:pPr>
            <a:r>
              <a:t>Strengths</a:t>
            </a:r>
          </a:p>
          <a:p>
            <a:pPr>
              <a:defRPr sz="1600">
                <a:latin typeface="Open Sans"/>
              </a:defRPr>
            </a:pPr>
            <a:r>
              <a:t>🏗️ Технологическая база</a:t>
            </a:r>
            <a:br/>
            <a:r>
              <a:t>🧠 DS-экспертиза</a:t>
            </a:r>
            <a:br/>
            <a:r>
              <a:t>🏦 Репутация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Montserrat"/>
              </a:defRPr>
            </a:pPr>
            <a:r>
              <a:t>Weaknesses</a:t>
            </a:r>
          </a:p>
          <a:p>
            <a:pPr>
              <a:defRPr sz="1600">
                <a:latin typeface="Open Sans"/>
              </a:defRPr>
            </a:pPr>
            <a:r>
              <a:t>⚠️ Риск реидентификации</a:t>
            </a:r>
            <a:br/>
            <a:r>
              <a:t>💰 Ограниченный бюджет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Montserrat"/>
              </a:defRPr>
            </a:pPr>
            <a:r>
              <a:t>Opportunities</a:t>
            </a:r>
          </a:p>
          <a:p>
            <a:pPr>
              <a:defRPr sz="1600">
                <a:latin typeface="Open Sans"/>
              </a:defRPr>
            </a:pPr>
            <a:r>
              <a:t>📈 Рост SaaS-рынка</a:t>
            </a:r>
            <a:br/>
            <a:r>
              <a:t>🤝 Развитие обмена данными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200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Montserrat"/>
              </a:defRPr>
            </a:pPr>
            <a:r>
              <a:t>Threats</a:t>
            </a:r>
          </a:p>
          <a:p>
            <a:pPr>
              <a:defRPr sz="1600">
                <a:latin typeface="Open Sans"/>
              </a:defRPr>
            </a:pPr>
            <a:r>
              <a:t>⚔️ Высокая конкуренция</a:t>
            </a:r>
            <a:br/>
            <a:r>
              <a:t>🔄 Ужесточение регулирования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Montserrat"/>
              </a:defRPr>
            </a:pPr>
            <a:r>
              <a:t>ДОРОЖНАЯ КАРТА: ОТ MVP ДО 1 МЛРД РУБ ДОХОДА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Roboto Mono"/>
              </a:defRPr>
            </a:pPr>
            <a:r>
              <a:t>Q2 2025 ─── Q4 2025 ─── Q2 2026 ─── Q4 2026 ─── Q4 2027</a:t>
            </a:r>
            <a:br/>
            <a:r>
              <a:t>    │             │             │             │             │</a:t>
            </a:r>
            <a:br/>
            <a:r>
              <a:t>Discovery → Development → Launch → Scaling → 1+ млрд руб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Open Sans"/>
              </a:defRPr>
            </a:pPr>
            <a:r>
              <a:t>• Q4 2025: Завершение юридической экспертизы и разработка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Open Sans"/>
              </a:defRPr>
            </a:pPr>
            <a:r>
              <a:t>• Q2 2026: Запуск MVP с 10 пилотными клиентами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Open Sans"/>
              </a:defRPr>
            </a:pPr>
            <a:r>
              <a:t>• Q4 2026: 50 платящих клиентов, точка безубыточности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Open Sans"/>
              </a:defRPr>
            </a:pPr>
            <a:r>
              <a:t>• Q4 2027: 450 клиентов, 1.62 млрд руб годового дохода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Montserrat"/>
              </a:defRPr>
            </a:pPr>
            <a:r>
              <a:t>ЭФФЕКТ ДЛЯ КЛИЕНТОВ: КОНКРЕТНЫЕ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7AE60"/>
                </a:solidFill>
                <a:latin typeface="Roboto Mono"/>
              </a:defRPr>
            </a:pPr>
            <a:r>
              <a:t>📉 -20%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latin typeface="Open Sans"/>
              </a:defRPr>
            </a:pPr>
            <a:r>
              <a:t>Снижение процента провальных точек продаж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3716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7AE60"/>
                </a:solidFill>
                <a:latin typeface="Roboto Mono"/>
              </a:defRPr>
            </a:pPr>
            <a:r>
              <a:t>📊 +15%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7432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latin typeface="Open Sans"/>
              </a:defRPr>
            </a:pPr>
            <a:r>
              <a:t>Рост среднего чека в оптимизированных локациях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7AE60"/>
                </a:solidFill>
                <a:latin typeface="Roboto Mono"/>
              </a:defRPr>
            </a:pPr>
            <a:r>
              <a:t>📦 -25%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latin typeface="Open Sans"/>
              </a:defRPr>
            </a:pPr>
            <a:r>
              <a:t>Сокращение издержек на хранение запасов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7315200" cy="6858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[Logos: Magnit, Lenta, Pyaterochka as pilot projects]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Montserrat"/>
              </a:defRPr>
            </a:pPr>
            <a:r>
              <a:t>ПОЧЕМУ ИМЕННО АЛЬФА-БАНК?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097280"/>
            <a:ext cx="548640" cy="548640"/>
          </a:xfrm>
          <a:prstGeom prst="rect">
            <a:avLst/>
          </a:prstGeom>
          <a:solidFill>
            <a:srgbClr val="CC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[Icon]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Montserrat"/>
              </a:defRPr>
            </a:pPr>
            <a:r>
              <a:t>🔒 Безопасность прежде всего</a:t>
            </a:r>
          </a:p>
          <a:p>
            <a:pPr algn="ctr">
              <a:defRPr sz="1600">
                <a:latin typeface="Open Sans"/>
              </a:defRPr>
            </a:pPr>
            <a:r>
              <a:t>MPC technology для анализа на зашифрованных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548640" cy="548640"/>
          </a:xfrm>
          <a:prstGeom prst="rect">
            <a:avLst/>
          </a:prstGeom>
          <a:solidFill>
            <a:srgbClr val="CC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[Icon]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Montserrat"/>
              </a:defRPr>
            </a:pPr>
            <a:r>
              <a:t>🤖 Глубокая DS-экспертиза</a:t>
            </a:r>
          </a:p>
          <a:p>
            <a:pPr algn="ctr">
              <a:defRPr sz="1600">
                <a:latin typeface="Open Sans"/>
              </a:defRPr>
            </a:pPr>
            <a:r>
              <a:t>Готовые модели на основе 16 млн клиентов и 550k корпоративных счетов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097280"/>
            <a:ext cx="548640" cy="548640"/>
          </a:xfrm>
          <a:prstGeom prst="rect">
            <a:avLst/>
          </a:prstGeom>
          <a:solidFill>
            <a:srgbClr val="CC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[Icon]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5603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Montserrat"/>
              </a:defRPr>
            </a:pPr>
            <a:r>
              <a:t>⚡️ Быстрое внедрение</a:t>
            </a:r>
          </a:p>
          <a:p>
            <a:pPr algn="ctr">
              <a:defRPr sz="1600">
                <a:latin typeface="Open Sans"/>
              </a:defRPr>
            </a:pPr>
            <a:r>
              <a:t>API-интеграция за 2 недели вместо месяцев разработки с нуля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Open Sans"/>
              </a:defRPr>
            </a:pPr>
            <a:r>
              <a:t>Не просто данные, а безопасная аналитика, которая работает в вашем бизнес-процессе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Montserrat"/>
              </a:defRPr>
            </a:pPr>
            <a:r>
              <a:t>СЛЕДУЮЩИЕ ШАГИ: ЗАПУСК MVP В 2026 ГОДУ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097280"/>
            <a:ext cx="548640" cy="548640"/>
          </a:xfrm>
          <a:prstGeom prst="rect">
            <a:avLst/>
          </a:prstGeom>
          <a:solidFill>
            <a:srgbClr val="CC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[Icon]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Montserrat"/>
              </a:defRPr>
            </a:pPr>
            <a:r>
              <a:t>👥 Сбор команды</a:t>
            </a:r>
          </a:p>
          <a:p>
            <a:pPr algn="ctr">
              <a:defRPr sz="1600">
                <a:latin typeface="Open Sans"/>
              </a:defRPr>
            </a:pPr>
            <a:r>
              <a:t>DS-инженер, юрист по данным, продакт-менеджер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548640" cy="548640"/>
          </a:xfrm>
          <a:prstGeom prst="rect">
            <a:avLst/>
          </a:prstGeom>
          <a:solidFill>
            <a:srgbClr val="CC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[Icon]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Montserrat"/>
              </a:defRPr>
            </a:pPr>
            <a:r>
              <a:t>🔐 Юридическая экспертиза</a:t>
            </a:r>
          </a:p>
          <a:p>
            <a:pPr algn="ctr">
              <a:defRPr sz="1600">
                <a:latin typeface="Open Sans"/>
              </a:defRPr>
            </a:pPr>
            <a:r>
              <a:t>Согласование процессов анонимизации с ЦБ РФ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097280"/>
            <a:ext cx="548640" cy="548640"/>
          </a:xfrm>
          <a:prstGeom prst="rect">
            <a:avLst/>
          </a:prstGeom>
          <a:solidFill>
            <a:srgbClr val="CCCC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[Icon]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latin typeface="Montserrat"/>
              </a:defRPr>
            </a:pPr>
            <a:r>
              <a:t>🚀 Разработка MVP</a:t>
            </a:r>
          </a:p>
          <a:p>
            <a:pPr algn="ctr">
              <a:defRPr sz="1600">
                <a:latin typeface="Open Sans"/>
              </a:defRPr>
            </a:pPr>
            <a:r>
              <a:t>API для геоаналитики и прогноза спроса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  <a:latin typeface="Montserrat"/>
              </a:defRPr>
            </a:pPr>
            <a:r>
              <a:t>Готовы запустить пилотный проект с 3-5 клиентами в Q1 2026!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4572000"/>
            <a:ext cx="1371600" cy="1371600"/>
          </a:xfrm>
          <a:prstGeom prst="rect">
            <a:avLst/>
          </a:prstGeom>
          <a:solidFill>
            <a:srgbClr val="EEEEEE"/>
          </a:solidFill>
          <a:ln>
            <a:solidFill>
              <a:srgbClr val="AAAAA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[QR Code to Demo]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